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225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Evaluation Framework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394960" y="411480"/>
            <a:ext cx="1207008" cy="150876"/>
          </a:xfrm>
          <a:prstGeom prst="roundRect">
            <a:avLst/>
          </a:prstGeom>
          <a:solidFill>
            <a:srgbClr val="028090"/>
          </a:solidFill>
          <a:ln w="9525">
            <a:solidFill>
              <a:srgbClr val="2C3E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40680" y="413766"/>
            <a:ext cx="11155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Cases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6400800" y="562356"/>
            <a:ext cx="0" cy="73152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6364224" y="589788"/>
            <a:ext cx="73152" cy="7315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3931920" y="713232"/>
            <a:ext cx="2514600" cy="150876"/>
          </a:xfrm>
          <a:prstGeom prst="roundRect">
            <a:avLst/>
          </a:prstGeom>
          <a:solidFill>
            <a:srgbClr val="00A896"/>
          </a:solidFill>
          <a:ln w="9525">
            <a:solidFill>
              <a:srgbClr val="2C3E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715518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4 Agents + 5 Gates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6400800" y="864108"/>
            <a:ext cx="0" cy="73152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6364224" y="891540"/>
            <a:ext cx="73152" cy="7315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051560"/>
            <a:ext cx="1659636" cy="452628"/>
          </a:xfrm>
          <a:prstGeom prst="roundRect">
            <a:avLst/>
          </a:prstGeom>
          <a:solidFill>
            <a:srgbClr val="1E90FF"/>
          </a:solidFill>
          <a:ln w="9525">
            <a:solidFill>
              <a:srgbClr val="2C3E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78992"/>
            <a:ext cx="165963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500" dirty="0"/>
          </a:p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</a:t>
            </a:r>
            <a:endParaRPr lang="en-US" sz="500" dirty="0"/>
          </a:p>
        </p:txBody>
      </p:sp>
      <p:sp>
        <p:nvSpPr>
          <p:cNvPr id="13" name="Text 11"/>
          <p:cNvSpPr/>
          <p:nvPr/>
        </p:nvSpPr>
        <p:spPr>
          <a:xfrm>
            <a:off x="320040" y="1207008"/>
            <a:ext cx="15681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350" dirty="0"/>
          </a:p>
          <a:p>
            <a:pPr algn="l" indent="0" marL="0">
              <a:buNone/>
            </a:pPr>
            <a:r>
              <a:rPr lang="en-US" sz="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350" dirty="0"/>
          </a:p>
          <a:p>
            <a:pPr algn="l" indent="0" marL="0">
              <a:buNone/>
            </a:pPr>
            <a:r>
              <a:rPr lang="en-US" sz="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350" dirty="0"/>
          </a:p>
          <a:p>
            <a:pPr algn="l" indent="0" marL="0">
              <a:buNone/>
            </a:pPr>
            <a:r>
              <a:rPr lang="en-US" sz="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350" dirty="0"/>
          </a:p>
        </p:txBody>
      </p:sp>
      <p:sp>
        <p:nvSpPr>
          <p:cNvPr id="14" name="Shape 12"/>
          <p:cNvSpPr/>
          <p:nvPr/>
        </p:nvSpPr>
        <p:spPr>
          <a:xfrm>
            <a:off x="2007108" y="1051560"/>
            <a:ext cx="1659636" cy="452628"/>
          </a:xfrm>
          <a:prstGeom prst="roundRect">
            <a:avLst/>
          </a:prstGeom>
          <a:solidFill>
            <a:srgbClr val="52AA5E"/>
          </a:solidFill>
          <a:ln w="9525">
            <a:solidFill>
              <a:srgbClr val="2C3E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07108" y="1078992"/>
            <a:ext cx="165963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500" dirty="0"/>
          </a:p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(8)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2052828" y="1207008"/>
            <a:ext cx="15681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350" dirty="0"/>
          </a:p>
          <a:p>
            <a:pPr algn="l" indent="0" marL="0">
              <a:buNone/>
            </a:pPr>
            <a:r>
              <a:rPr lang="en-US" sz="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350" dirty="0"/>
          </a:p>
          <a:p>
            <a:pPr algn="l" indent="0" marL="0">
              <a:buNone/>
            </a:pPr>
            <a:r>
              <a:rPr lang="en-US" sz="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350" dirty="0"/>
          </a:p>
          <a:p>
            <a:pPr algn="l" indent="0" marL="0">
              <a:buNone/>
            </a:pPr>
            <a:r>
              <a:rPr lang="en-US" sz="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</a:t>
            </a:r>
            <a:endParaRPr lang="en-US" sz="350" dirty="0"/>
          </a:p>
          <a:p>
            <a:pPr algn="l" indent="0" marL="0">
              <a:buNone/>
            </a:pPr>
            <a:r>
              <a:rPr lang="en-US" sz="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</a:t>
            </a:r>
            <a:endParaRPr lang="en-US" sz="350" dirty="0"/>
          </a:p>
          <a:p>
            <a:pPr algn="l" indent="0" marL="0">
              <a:buNone/>
            </a:pPr>
            <a:r>
              <a:rPr lang="en-US" sz="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350" dirty="0"/>
          </a:p>
          <a:p>
            <a:pPr algn="l" indent="0" marL="0">
              <a:buNone/>
            </a:pPr>
            <a:r>
              <a:rPr lang="en-US" sz="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350" dirty="0"/>
          </a:p>
          <a:p>
            <a:pPr algn="l" indent="0" marL="0">
              <a:buNone/>
            </a:pPr>
            <a:r>
              <a:rPr lang="en-US" sz="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</a:t>
            </a:r>
            <a:endParaRPr lang="en-US" sz="350" dirty="0"/>
          </a:p>
        </p:txBody>
      </p:sp>
      <p:sp>
        <p:nvSpPr>
          <p:cNvPr id="17" name="Shape 15"/>
          <p:cNvSpPr/>
          <p:nvPr/>
        </p:nvSpPr>
        <p:spPr>
          <a:xfrm>
            <a:off x="3739896" y="1051560"/>
            <a:ext cx="1659636" cy="452628"/>
          </a:xfrm>
          <a:prstGeom prst="roundRect">
            <a:avLst/>
          </a:prstGeom>
          <a:solidFill>
            <a:srgbClr val="4169E1"/>
          </a:solidFill>
          <a:ln w="9525">
            <a:solidFill>
              <a:srgbClr val="2C3E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9896" y="1078992"/>
            <a:ext cx="165963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500" dirty="0"/>
          </a:p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3785616" y="1207008"/>
            <a:ext cx="15681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</a:t>
            </a:r>
            <a:endParaRPr lang="en-US" sz="350" dirty="0"/>
          </a:p>
          <a:p>
            <a:pPr algn="l" indent="0" marL="0">
              <a:buNone/>
            </a:pPr>
            <a:r>
              <a:rPr lang="en-US" sz="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350" dirty="0"/>
          </a:p>
          <a:p>
            <a:pPr algn="l" indent="0" marL="0">
              <a:buNone/>
            </a:pPr>
            <a:r>
              <a:rPr lang="en-US" sz="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350" dirty="0"/>
          </a:p>
        </p:txBody>
      </p:sp>
      <p:sp>
        <p:nvSpPr>
          <p:cNvPr id="20" name="Shape 18"/>
          <p:cNvSpPr/>
          <p:nvPr/>
        </p:nvSpPr>
        <p:spPr>
          <a:xfrm>
            <a:off x="5472684" y="1051560"/>
            <a:ext cx="1659636" cy="452628"/>
          </a:xfrm>
          <a:prstGeom prst="roundRect">
            <a:avLst/>
          </a:prstGeom>
          <a:solidFill>
            <a:srgbClr val="9932CC"/>
          </a:solidFill>
          <a:ln w="9525">
            <a:solidFill>
              <a:srgbClr val="2C3E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72684" y="1078992"/>
            <a:ext cx="165963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500" dirty="0"/>
          </a:p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5518404" y="1207008"/>
            <a:ext cx="15681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</a:t>
            </a:r>
            <a:endParaRPr lang="en-US" sz="350" dirty="0"/>
          </a:p>
          <a:p>
            <a:pPr algn="l" indent="0" marL="0">
              <a:buNone/>
            </a:pPr>
            <a:r>
              <a:rPr lang="en-US" sz="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</a:t>
            </a:r>
            <a:endParaRPr lang="en-US" sz="350" dirty="0"/>
          </a:p>
          <a:p>
            <a:pPr algn="l" indent="0" marL="0">
              <a:buNone/>
            </a:pPr>
            <a:r>
              <a:rPr lang="en-US" sz="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350" dirty="0"/>
          </a:p>
          <a:p>
            <a:pPr algn="l" indent="0" marL="0">
              <a:buNone/>
            </a:pPr>
            <a:r>
              <a:rPr lang="en-US" sz="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</a:t>
            </a:r>
            <a:endParaRPr lang="en-US" sz="350" dirty="0"/>
          </a:p>
        </p:txBody>
      </p:sp>
      <p:sp>
        <p:nvSpPr>
          <p:cNvPr id="23" name="Shape 21"/>
          <p:cNvSpPr/>
          <p:nvPr/>
        </p:nvSpPr>
        <p:spPr>
          <a:xfrm>
            <a:off x="6400800" y="1504188"/>
            <a:ext cx="0" cy="73152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6364224" y="1531620"/>
            <a:ext cx="73152" cy="7315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1828800"/>
            <a:ext cx="1225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74320" y="1993392"/>
            <a:ext cx="5943600" cy="374904"/>
          </a:xfrm>
          <a:prstGeom prst="rect">
            <a:avLst/>
          </a:prstGeom>
          <a:solidFill>
            <a:srgbClr val="F5F5F5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02082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Per-Case: Compare vs ground truth, score dims 0-1, ≥80% = PASS</a:t>
            </a:r>
            <a:endParaRPr lang="en-US" sz="400" dirty="0"/>
          </a:p>
        </p:txBody>
      </p:sp>
      <p:sp>
        <p:nvSpPr>
          <p:cNvPr id="28" name="Shape 26"/>
          <p:cNvSpPr/>
          <p:nvPr/>
        </p:nvSpPr>
        <p:spPr>
          <a:xfrm>
            <a:off x="6583680" y="1993392"/>
            <a:ext cx="5943600" cy="374904"/>
          </a:xfrm>
          <a:prstGeom prst="rect">
            <a:avLst/>
          </a:prstGeom>
          <a:solidFill>
            <a:srgbClr val="F5F5F5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202082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Aggregate: Value 3/4, Trust 7/8, Operational 2/3 to pass</a:t>
            </a:r>
            <a:endParaRPr lang="en-US" sz="400" dirty="0"/>
          </a:p>
        </p:txBody>
      </p:sp>
      <p:sp>
        <p:nvSpPr>
          <p:cNvPr id="30" name="Shape 28"/>
          <p:cNvSpPr/>
          <p:nvPr/>
        </p:nvSpPr>
        <p:spPr>
          <a:xfrm>
            <a:off x="3246120" y="2368296"/>
            <a:ext cx="0" cy="64008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10800000">
            <a:off x="3209544" y="2386584"/>
            <a:ext cx="73152" cy="7315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32" name="Shape 30"/>
          <p:cNvSpPr/>
          <p:nvPr/>
        </p:nvSpPr>
        <p:spPr>
          <a:xfrm>
            <a:off x="9555480" y="2368296"/>
            <a:ext cx="0" cy="64008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0800000">
            <a:off x="9518904" y="2386584"/>
            <a:ext cx="73152" cy="7315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2606040"/>
            <a:ext cx="1636776" cy="329184"/>
          </a:xfrm>
          <a:prstGeom prst="rect">
            <a:avLst/>
          </a:prstGeom>
          <a:solidFill>
            <a:srgbClr val="E8E8E8"/>
          </a:solidFill>
          <a:ln w="9525">
            <a:solidFill>
              <a:srgbClr val="2C3E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" y="2624328"/>
            <a:ext cx="158191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Per-Case</a:t>
            </a:r>
            <a:endParaRPr lang="en-US" sz="450" dirty="0"/>
          </a:p>
        </p:txBody>
      </p:sp>
      <p:sp>
        <p:nvSpPr>
          <p:cNvPr id="36" name="Text 34"/>
          <p:cNvSpPr/>
          <p:nvPr/>
        </p:nvSpPr>
        <p:spPr>
          <a:xfrm>
            <a:off x="301752" y="2734056"/>
            <a:ext cx="1581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300" dirty="0"/>
          </a:p>
          <a:p>
            <a:pPr algn="ctr" indent="0" marL="0">
              <a:buNone/>
            </a:pPr>
            <a:r>
              <a:rPr lang="en-US" sz="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</a:t>
            </a:r>
            <a:endParaRPr lang="en-US" sz="300" dirty="0"/>
          </a:p>
          <a:p>
            <a:pPr algn="ctr" indent="0" marL="0">
              <a:buNone/>
            </a:pPr>
            <a:r>
              <a:rPr lang="en-US" sz="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</a:t>
            </a:r>
            <a:endParaRPr lang="en-US" sz="300" dirty="0"/>
          </a:p>
        </p:txBody>
      </p:sp>
      <p:sp>
        <p:nvSpPr>
          <p:cNvPr id="37" name="Shape 35"/>
          <p:cNvSpPr/>
          <p:nvPr/>
        </p:nvSpPr>
        <p:spPr>
          <a:xfrm>
            <a:off x="1947672" y="2606040"/>
            <a:ext cx="1636776" cy="329184"/>
          </a:xfrm>
          <a:prstGeom prst="rect">
            <a:avLst/>
          </a:prstGeom>
          <a:solidFill>
            <a:srgbClr val="E8E8E8"/>
          </a:solidFill>
          <a:ln w="9525">
            <a:solidFill>
              <a:srgbClr val="2C3E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75104" y="2624328"/>
            <a:ext cx="158191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450" dirty="0"/>
          </a:p>
        </p:txBody>
      </p:sp>
      <p:sp>
        <p:nvSpPr>
          <p:cNvPr id="39" name="Text 37"/>
          <p:cNvSpPr/>
          <p:nvPr/>
        </p:nvSpPr>
        <p:spPr>
          <a:xfrm>
            <a:off x="1975104" y="2734056"/>
            <a:ext cx="1581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</a:t>
            </a:r>
            <a:endParaRPr lang="en-US" sz="300" dirty="0"/>
          </a:p>
          <a:p>
            <a:pPr algn="ctr" indent="0" marL="0">
              <a:buNone/>
            </a:pPr>
            <a:r>
              <a:rPr lang="en-US" sz="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</a:t>
            </a:r>
            <a:endParaRPr lang="en-US" sz="300" dirty="0"/>
          </a:p>
          <a:p>
            <a:pPr algn="ctr" indent="0" marL="0">
              <a:buNone/>
            </a:pPr>
            <a:r>
              <a:rPr lang="en-US" sz="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300" dirty="0"/>
          </a:p>
        </p:txBody>
      </p:sp>
      <p:sp>
        <p:nvSpPr>
          <p:cNvPr id="40" name="Shape 38"/>
          <p:cNvSpPr/>
          <p:nvPr/>
        </p:nvSpPr>
        <p:spPr>
          <a:xfrm>
            <a:off x="3621024" y="2606040"/>
            <a:ext cx="1636776" cy="329184"/>
          </a:xfrm>
          <a:prstGeom prst="rect">
            <a:avLst/>
          </a:prstGeom>
          <a:solidFill>
            <a:srgbClr val="E8E8E8"/>
          </a:solidFill>
          <a:ln w="9525">
            <a:solidFill>
              <a:srgbClr val="2C3E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48456" y="2624328"/>
            <a:ext cx="158191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450" dirty="0"/>
          </a:p>
        </p:txBody>
      </p:sp>
      <p:sp>
        <p:nvSpPr>
          <p:cNvPr id="42" name="Text 40"/>
          <p:cNvSpPr/>
          <p:nvPr/>
        </p:nvSpPr>
        <p:spPr>
          <a:xfrm>
            <a:off x="3648456" y="2734056"/>
            <a:ext cx="1581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$0.291</a:t>
            </a:r>
            <a:endParaRPr lang="en-US" sz="300" dirty="0"/>
          </a:p>
          <a:p>
            <a:pPr algn="ctr" indent="0" marL="0">
              <a:buNone/>
            </a:pPr>
            <a:r>
              <a:rPr lang="en-US" sz="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300" dirty="0"/>
          </a:p>
          <a:p>
            <a:pPr algn="ctr" indent="0" marL="0">
              <a:buNone/>
            </a:pPr>
            <a:r>
              <a:rPr lang="en-US" sz="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300" dirty="0"/>
          </a:p>
        </p:txBody>
      </p:sp>
      <p:sp>
        <p:nvSpPr>
          <p:cNvPr id="43" name="Shape 41"/>
          <p:cNvSpPr/>
          <p:nvPr/>
        </p:nvSpPr>
        <p:spPr>
          <a:xfrm>
            <a:off x="5294376" y="2606040"/>
            <a:ext cx="1636776" cy="329184"/>
          </a:xfrm>
          <a:prstGeom prst="rect">
            <a:avLst/>
          </a:prstGeom>
          <a:solidFill>
            <a:srgbClr val="E8E8E8"/>
          </a:solidFill>
          <a:ln w="9525">
            <a:solidFill>
              <a:srgbClr val="2C3E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21808" y="2624328"/>
            <a:ext cx="158191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450" dirty="0"/>
          </a:p>
        </p:txBody>
      </p:sp>
      <p:sp>
        <p:nvSpPr>
          <p:cNvPr id="45" name="Text 43"/>
          <p:cNvSpPr/>
          <p:nvPr/>
        </p:nvSpPr>
        <p:spPr>
          <a:xfrm>
            <a:off x="5321808" y="2734056"/>
            <a:ext cx="1581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300" dirty="0"/>
          </a:p>
          <a:p>
            <a:pPr algn="ctr" indent="0" marL="0">
              <a:buNone/>
            </a:pPr>
            <a:r>
              <a:rPr lang="en-US" sz="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300" dirty="0"/>
          </a:p>
          <a:p>
            <a:pPr algn="ctr" indent="0" marL="0">
              <a:buNone/>
            </a:pPr>
            <a:r>
              <a:rPr lang="en-US" sz="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300" dirty="0"/>
          </a:p>
        </p:txBody>
      </p:sp>
      <p:sp>
        <p:nvSpPr>
          <p:cNvPr id="46" name="Shape 44"/>
          <p:cNvSpPr/>
          <p:nvPr/>
        </p:nvSpPr>
        <p:spPr>
          <a:xfrm>
            <a:off x="274320" y="3108960"/>
            <a:ext cx="1225296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145536"/>
            <a:ext cx="1207008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RESULTS: Per-case 8/15 (53%) | Aggregate 12/15 dims | Value ✓3/4 | Trust ✓7/8 | Ops ✓2/3 | $0.291/case</a:t>
            </a:r>
            <a:endParaRPr lang="en-US" sz="500" dirty="0"/>
          </a:p>
        </p:txBody>
      </p:sp>
      <p:sp>
        <p:nvSpPr>
          <p:cNvPr id="48" name="Text 46"/>
          <p:cNvSpPr/>
          <p:nvPr/>
        </p:nvSpPr>
        <p:spPr>
          <a:xfrm>
            <a:off x="274320" y="3474720"/>
            <a:ext cx="1225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 compute during pipeline. Ship-tier (Opus) requires SHIP_TIER_APPROVED=yes</a:t>
            </a:r>
            <a:endParaRPr lang="en-US" sz="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2026-06-04T20:32:52Z</dcterms:created>
  <dcterms:modified xsi:type="dcterms:W3CDTF">2026-06-04T20:32:52Z</dcterms:modified>
</cp:coreProperties>
</file>